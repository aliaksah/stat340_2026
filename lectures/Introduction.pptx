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86" r:id="rId2"/>
    <p:sldId id="288" r:id="rId3"/>
    <p:sldId id="308" r:id="rId4"/>
    <p:sldId id="292" r:id="rId5"/>
    <p:sldId id="298" r:id="rId6"/>
    <p:sldId id="289" r:id="rId7"/>
    <p:sldId id="290" r:id="rId8"/>
    <p:sldId id="304" r:id="rId9"/>
    <p:sldId id="305" r:id="rId10"/>
    <p:sldId id="307" r:id="rId11"/>
  </p:sldIdLst>
  <p:sldSz cx="9144000" cy="6858000" type="screen4x3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D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71"/>
    <p:restoredTop sz="94621"/>
  </p:normalViewPr>
  <p:slideViewPr>
    <p:cSldViewPr>
      <p:cViewPr varScale="1">
        <p:scale>
          <a:sx n="119" d="100"/>
          <a:sy n="119" d="100"/>
        </p:scale>
        <p:origin x="96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B013BB-223A-4A7A-A9B6-504A14290792}" type="datetimeFigureOut">
              <a:rPr lang="nb-NO" smtClean="0"/>
              <a:t>22.01.2026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0BF349-27A5-44C1-8C69-2C3879FAD29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856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000" dirty="0"/>
              <a:t>Me</a:t>
            </a:r>
            <a:br>
              <a:rPr lang="en-GB" sz="2000" dirty="0"/>
            </a:br>
            <a:r>
              <a:rPr lang="en-GB" sz="2000" dirty="0"/>
              <a:t>You</a:t>
            </a:r>
            <a:br>
              <a:rPr lang="en-GB" sz="2000" dirty="0"/>
            </a:br>
            <a:r>
              <a:rPr lang="en-GB" sz="2000" dirty="0"/>
              <a:t>About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BF349-27A5-44C1-8C69-2C3879FAD297}" type="slidenum">
              <a:rPr lang="nb-NO" smtClean="0"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94358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BF349-27A5-44C1-8C69-2C3879FAD297}" type="slidenum">
              <a:rPr lang="nb-NO" smtClean="0"/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17903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BF349-27A5-44C1-8C69-2C3879FAD297}" type="slidenum">
              <a:rPr lang="nb-NO" smtClean="0"/>
              <a:t>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8552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Fors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e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71999" y="2572510"/>
            <a:ext cx="2569469" cy="1712979"/>
          </a:xfrm>
          <a:prstGeom prst="rect">
            <a:avLst/>
          </a:prstGeom>
        </p:spPr>
      </p:pic>
      <p:pic>
        <p:nvPicPr>
          <p:cNvPr id="2050" name="Picture 2" descr="Z:\NMBU\NMBU_symbol_1000prosent_av_18mm_RGB_hvit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531" y="2571889"/>
            <a:ext cx="2147040" cy="17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3032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ogo animasjon">
    <p:bg>
      <p:bgPr>
        <a:solidFill>
          <a:srgbClr val="009D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598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lysbilde #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Norges miljø- og biovitenskapelige universitet</a:t>
            </a:r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-NO"/>
              <a:t>STAT340</a:t>
            </a:r>
            <a:endParaRPr lang="nb-NO" dirty="0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6503D8D-F27D-49CA-A299-3589FD585F6D}" type="slidenum">
              <a:rPr lang="nb-NO" smtClean="0"/>
              <a:pPr/>
              <a:t>‹#›</a:t>
            </a:fld>
            <a:endParaRPr lang="nb-NO"/>
          </a:p>
        </p:txBody>
      </p:sp>
      <p:cxnSp>
        <p:nvCxnSpPr>
          <p:cNvPr id="7" name="Rett linje 6"/>
          <p:cNvCxnSpPr/>
          <p:nvPr userDrawn="1"/>
        </p:nvCxnSpPr>
        <p:spPr>
          <a:xfrm>
            <a:off x="576000" y="6282000"/>
            <a:ext cx="80028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tel 1"/>
          <p:cNvSpPr>
            <a:spLocks noGrp="1"/>
          </p:cNvSpPr>
          <p:nvPr>
            <p:ph type="ctrTitle"/>
          </p:nvPr>
        </p:nvSpPr>
        <p:spPr>
          <a:xfrm>
            <a:off x="576000" y="2617200"/>
            <a:ext cx="7992000" cy="738664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12" name="Undertittel 2"/>
          <p:cNvSpPr>
            <a:spLocks noGrp="1"/>
          </p:cNvSpPr>
          <p:nvPr>
            <p:ph type="subTitle" idx="1"/>
          </p:nvPr>
        </p:nvSpPr>
        <p:spPr>
          <a:xfrm>
            <a:off x="576000" y="3502800"/>
            <a:ext cx="7992000" cy="369332"/>
          </a:xfrm>
        </p:spPr>
        <p:txBody>
          <a:bodyPr>
            <a:noAutofit/>
          </a:bodyPr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b-NO" dirty="0"/>
          </a:p>
        </p:txBody>
      </p:sp>
      <p:sp>
        <p:nvSpPr>
          <p:cNvPr id="14" name="Plassholder for tekst 12"/>
          <p:cNvSpPr>
            <a:spLocks noGrp="1"/>
          </p:cNvSpPr>
          <p:nvPr>
            <p:ph type="body" sz="quarter" idx="13" hasCustomPrompt="1"/>
          </p:nvPr>
        </p:nvSpPr>
        <p:spPr>
          <a:xfrm>
            <a:off x="576000" y="3956400"/>
            <a:ext cx="7992000" cy="336550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Dato</a:t>
            </a:r>
          </a:p>
        </p:txBody>
      </p:sp>
      <p:pic>
        <p:nvPicPr>
          <p:cNvPr id="10" name="Picture 2" descr="Z:\NMBU\NMBU_symbol_1000prosent_av_18mm_RGB_hvit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18" y="390436"/>
            <a:ext cx="676588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864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lysbilde #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576000" y="2617200"/>
            <a:ext cx="7992000" cy="738664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576000" y="3502800"/>
            <a:ext cx="7992000" cy="369332"/>
          </a:xfrm>
        </p:spPr>
        <p:txBody>
          <a:bodyPr>
            <a:noAutofit/>
          </a:bodyPr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b-NO" dirty="0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Norges miljø- og biovitenskapelige universitet</a:t>
            </a:r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-NO"/>
              <a:t>STAT340</a:t>
            </a:r>
            <a:endParaRPr lang="nb-NO" dirty="0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6503D8D-F27D-49CA-A299-3589FD585F6D}" type="slidenum">
              <a:rPr lang="nb-NO" smtClean="0"/>
              <a:pPr/>
              <a:t>‹#›</a:t>
            </a:fld>
            <a:endParaRPr lang="nb-NO"/>
          </a:p>
        </p:txBody>
      </p:sp>
      <p:cxnSp>
        <p:nvCxnSpPr>
          <p:cNvPr id="7" name="Rett linje 6"/>
          <p:cNvCxnSpPr/>
          <p:nvPr userDrawn="1"/>
        </p:nvCxnSpPr>
        <p:spPr>
          <a:xfrm>
            <a:off x="576000" y="6282000"/>
            <a:ext cx="80028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lassholder for tekst 12"/>
          <p:cNvSpPr>
            <a:spLocks noGrp="1"/>
          </p:cNvSpPr>
          <p:nvPr>
            <p:ph type="body" sz="quarter" idx="13" hasCustomPrompt="1"/>
          </p:nvPr>
        </p:nvSpPr>
        <p:spPr>
          <a:xfrm>
            <a:off x="576000" y="3956400"/>
            <a:ext cx="7992000" cy="336550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Dato</a:t>
            </a:r>
          </a:p>
        </p:txBody>
      </p:sp>
      <p:pic>
        <p:nvPicPr>
          <p:cNvPr id="10" name="Picture 2" descr="Z:\NMBU\NMBU_symbol_1000prosent_av_18mm_RGB_hvit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18" y="390436"/>
            <a:ext cx="676588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943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Norges miljø- og biovitenskapelige universitet</a:t>
            </a:r>
            <a:endParaRPr lang="nb-NO" dirty="0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STAT340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03D8D-F27D-49CA-A299-3589FD585F6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86075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, innhold og bilde til vens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4716000" y="1825831"/>
            <a:ext cx="3852000" cy="39794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Norges miljø- og biovitenskapelige universitet</a:t>
            </a:r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STAT340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03D8D-F27D-49CA-A299-3589FD585F6D}" type="slidenum">
              <a:rPr lang="nb-NO" smtClean="0"/>
              <a:t>‹#›</a:t>
            </a:fld>
            <a:endParaRPr lang="nb-NO"/>
          </a:p>
        </p:txBody>
      </p:sp>
      <p:sp>
        <p:nvSpPr>
          <p:cNvPr id="10" name="Plassholder for bilde 9"/>
          <p:cNvSpPr>
            <a:spLocks noGrp="1"/>
          </p:cNvSpPr>
          <p:nvPr>
            <p:ph type="pic" sz="quarter" idx="13"/>
          </p:nvPr>
        </p:nvSpPr>
        <p:spPr>
          <a:xfrm>
            <a:off x="575999" y="1922400"/>
            <a:ext cx="3870000" cy="4129200"/>
          </a:xfrm>
          <a:noFill/>
        </p:spPr>
        <p:txBody>
          <a:bodyPr tIns="2160000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72565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, innhold og bilde til høy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576000" y="1825831"/>
            <a:ext cx="3852000" cy="39794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Norges miljø- og biovitenskapelige universitet</a:t>
            </a:r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STAT340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03D8D-F27D-49CA-A299-3589FD585F6D}" type="slidenum">
              <a:rPr lang="nb-NO" smtClean="0"/>
              <a:t>‹#›</a:t>
            </a:fld>
            <a:endParaRPr lang="nb-NO"/>
          </a:p>
        </p:txBody>
      </p:sp>
      <p:sp>
        <p:nvSpPr>
          <p:cNvPr id="10" name="Plassholder for bilde 9"/>
          <p:cNvSpPr>
            <a:spLocks noGrp="1"/>
          </p:cNvSpPr>
          <p:nvPr>
            <p:ph type="pic" sz="quarter" idx="13"/>
          </p:nvPr>
        </p:nvSpPr>
        <p:spPr>
          <a:xfrm>
            <a:off x="4716016" y="1922400"/>
            <a:ext cx="3870000" cy="4129200"/>
          </a:xfrm>
          <a:noFill/>
        </p:spPr>
        <p:txBody>
          <a:bodyPr tIns="2160000" bIns="0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861358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vileslide med farge og bilde">
    <p:bg>
      <p:bgPr>
        <a:solidFill>
          <a:srgbClr val="009D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96512"/>
            <a:ext cx="9144000" cy="2761488"/>
          </a:xfrm>
          <a:prstGeom prst="rect">
            <a:avLst/>
          </a:prstGeom>
        </p:spPr>
      </p:pic>
      <p:sp>
        <p:nvSpPr>
          <p:cNvPr id="6" name="Tittel 1"/>
          <p:cNvSpPr>
            <a:spLocks noGrp="1"/>
          </p:cNvSpPr>
          <p:nvPr>
            <p:ph type="ctrTitle"/>
          </p:nvPr>
        </p:nvSpPr>
        <p:spPr>
          <a:xfrm>
            <a:off x="576000" y="2617200"/>
            <a:ext cx="7992000" cy="738664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7" name="Undertittel 2"/>
          <p:cNvSpPr>
            <a:spLocks noGrp="1"/>
          </p:cNvSpPr>
          <p:nvPr>
            <p:ph type="subTitle" idx="1"/>
          </p:nvPr>
        </p:nvSpPr>
        <p:spPr>
          <a:xfrm>
            <a:off x="576000" y="3502800"/>
            <a:ext cx="7992000" cy="24622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b-NO" dirty="0"/>
          </a:p>
        </p:txBody>
      </p:sp>
      <p:pic>
        <p:nvPicPr>
          <p:cNvPr id="10" name="Picture 2" descr="Z:\NMBU\NMBU_symbol_1000prosent_av_18mm_RGB_hvit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18" y="390436"/>
            <a:ext cx="676588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4682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vileslide med tekst og bil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ssholder for bilde 11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6858000"/>
          </a:xfrm>
          <a:solidFill>
            <a:schemeClr val="bg1">
              <a:lumMod val="75000"/>
            </a:schemeClr>
          </a:solidFill>
        </p:spPr>
        <p:txBody>
          <a:bodyPr tIns="3600000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7" name="Plassholder for tekst 6"/>
          <p:cNvSpPr>
            <a:spLocks noGrp="1"/>
          </p:cNvSpPr>
          <p:nvPr>
            <p:ph type="body" sz="quarter" idx="10" hasCustomPrompt="1"/>
          </p:nvPr>
        </p:nvSpPr>
        <p:spPr>
          <a:xfrm>
            <a:off x="7970400" y="392400"/>
            <a:ext cx="676800" cy="540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.</a:t>
            </a:r>
          </a:p>
        </p:txBody>
      </p:sp>
      <p:sp>
        <p:nvSpPr>
          <p:cNvPr id="10" name="Plassholder for tekst 6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4096800"/>
            <a:ext cx="9144000" cy="2761200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.</a:t>
            </a:r>
          </a:p>
        </p:txBody>
      </p:sp>
      <p:sp>
        <p:nvSpPr>
          <p:cNvPr id="8" name="Tittel 1"/>
          <p:cNvSpPr>
            <a:spLocks noGrp="1"/>
          </p:cNvSpPr>
          <p:nvPr>
            <p:ph type="ctrTitle"/>
          </p:nvPr>
        </p:nvSpPr>
        <p:spPr>
          <a:xfrm>
            <a:off x="576000" y="2617200"/>
            <a:ext cx="7992000" cy="738664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9" name="Undertittel 2"/>
          <p:cNvSpPr>
            <a:spLocks noGrp="1"/>
          </p:cNvSpPr>
          <p:nvPr>
            <p:ph type="subTitle" idx="1"/>
          </p:nvPr>
        </p:nvSpPr>
        <p:spPr>
          <a:xfrm>
            <a:off x="576000" y="3502800"/>
            <a:ext cx="7992000" cy="24622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281357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Norges miljø- og biovitenskapelige universitet</a:t>
            </a:r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STAT340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03D8D-F27D-49CA-A299-3589FD585F6D}" type="slidenum">
              <a:rPr lang="nb-NO" smtClean="0"/>
              <a:t>‹#›</a:t>
            </a:fld>
            <a:endParaRPr lang="nb-NO"/>
          </a:p>
        </p:txBody>
      </p:sp>
      <p:sp>
        <p:nvSpPr>
          <p:cNvPr id="9" name="Plassholder for bilde 7"/>
          <p:cNvSpPr>
            <a:spLocks noGrp="1"/>
          </p:cNvSpPr>
          <p:nvPr>
            <p:ph type="pic" sz="quarter" idx="13"/>
          </p:nvPr>
        </p:nvSpPr>
        <p:spPr>
          <a:xfrm>
            <a:off x="576000" y="1920873"/>
            <a:ext cx="7992000" cy="4127501"/>
          </a:xfrm>
          <a:noFill/>
        </p:spPr>
        <p:txBody>
          <a:bodyPr tIns="2160000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868463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stes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Z:\NMBU\nmbu_ppt_sisteside_grafikk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20874"/>
            <a:ext cx="9144000" cy="4937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Z:\NMBU\NMBU_symbol_1000prosent_av_18mm_RGB_hvit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18" y="390436"/>
            <a:ext cx="676588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3588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579353" y="1844825"/>
            <a:ext cx="3794294" cy="3960440"/>
          </a:xfrm>
        </p:spPr>
        <p:txBody>
          <a:bodyPr/>
          <a:lstStyle>
            <a:lvl1pPr marL="198000" marR="0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/>
            </a:lvl1pPr>
            <a:lvl2pPr marL="666000" marR="0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 sz="2400"/>
            </a:lvl2pPr>
            <a:lvl3pPr marL="1134000" marR="0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lvl3pPr>
            <a:lvl4pPr marL="1600200" marR="0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 sz="1800"/>
            </a:lvl4pPr>
            <a:lvl5pPr marL="2052000" marR="0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198000" marR="0" lvl="0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</a:rPr>
              <a:t>Click to edit Master text styles</a:t>
            </a:r>
          </a:p>
          <a:p>
            <a:pPr marL="198000" marR="0" lvl="1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</a:rPr>
              <a:t>Second level</a:t>
            </a:r>
          </a:p>
          <a:p>
            <a:pPr marL="198000" marR="0" lvl="2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</a:rPr>
              <a:t>Third level</a:t>
            </a:r>
          </a:p>
          <a:p>
            <a:pPr marL="198000" marR="0" lvl="3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</a:rPr>
              <a:t>Fourth level</a:t>
            </a:r>
          </a:p>
          <a:p>
            <a:pPr marL="198000" marR="0" lvl="4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</a:rPr>
              <a:t>Fifth level</a:t>
            </a: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770353" y="1844825"/>
            <a:ext cx="3794294" cy="3960440"/>
          </a:xfrm>
        </p:spPr>
        <p:txBody>
          <a:bodyPr/>
          <a:lstStyle>
            <a:lvl1pPr marL="198000" marR="0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/>
            </a:lvl1pPr>
            <a:lvl2pPr marL="666000" marR="0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 sz="2400"/>
            </a:lvl2pPr>
            <a:lvl3pPr marL="1134000" marR="0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lvl3pPr>
            <a:lvl4pPr marL="1600200" marR="0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 sz="1800"/>
            </a:lvl4pPr>
            <a:lvl5pPr marL="2052000" marR="0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198000" marR="0" lvl="0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</a:rPr>
              <a:t>Click to edit Master text styles</a:t>
            </a:r>
          </a:p>
          <a:p>
            <a:pPr marL="198000" marR="0" lvl="1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</a:rPr>
              <a:t>Second level</a:t>
            </a:r>
          </a:p>
          <a:p>
            <a:pPr marL="198000" marR="0" lvl="2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</a:rPr>
              <a:t>Third level</a:t>
            </a:r>
          </a:p>
          <a:p>
            <a:pPr marL="198000" marR="0" lvl="3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</a:rPr>
              <a:t>Fourth level</a:t>
            </a:r>
          </a:p>
          <a:p>
            <a:pPr marL="198000" marR="0" lvl="4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</a:rPr>
              <a:t>Fifth level</a:t>
            </a: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Norges miljø- og biovitenskapelige universitet</a:t>
            </a:r>
            <a:endParaRPr lang="nb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STAT340</a:t>
            </a:r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03D8D-F27D-49CA-A299-3589FD585F6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755124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575862" y="1592719"/>
            <a:ext cx="3807674" cy="738664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4763687" y="1592719"/>
            <a:ext cx="3807939" cy="738664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ssholder for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Norges miljø- og biovitenskapelige universitet</a:t>
            </a:r>
            <a:endParaRPr lang="nb-NO"/>
          </a:p>
        </p:txBody>
      </p:sp>
      <p:sp>
        <p:nvSpPr>
          <p:cNvPr id="8" name="Plassholder for bunn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STAT340</a:t>
            </a:r>
          </a:p>
        </p:txBody>
      </p:sp>
      <p:sp>
        <p:nvSpPr>
          <p:cNvPr id="9" name="Plassholder for lysbil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03D8D-F27D-49CA-A299-3589FD585F6D}" type="slidenum">
              <a:rPr lang="nb-NO" smtClean="0"/>
              <a:t>‹#›</a:t>
            </a:fld>
            <a:endParaRPr lang="nb-NO"/>
          </a:p>
        </p:txBody>
      </p:sp>
      <p:sp>
        <p:nvSpPr>
          <p:cNvPr id="12" name="Plassholder for innhold 2"/>
          <p:cNvSpPr>
            <a:spLocks noGrp="1"/>
          </p:cNvSpPr>
          <p:nvPr>
            <p:ph sz="half" idx="13"/>
          </p:nvPr>
        </p:nvSpPr>
        <p:spPr>
          <a:xfrm>
            <a:off x="579353" y="2348880"/>
            <a:ext cx="3794294" cy="3456384"/>
          </a:xfrm>
        </p:spPr>
        <p:txBody>
          <a:bodyPr/>
          <a:lstStyle>
            <a:lvl1pPr marL="198000" marR="0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/>
            </a:lvl1pPr>
            <a:lvl2pPr marL="666000" marR="0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 sz="2400"/>
            </a:lvl2pPr>
            <a:lvl3pPr marL="1134000" marR="0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lvl3pPr>
            <a:lvl4pPr marL="1600200" marR="0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 sz="1800"/>
            </a:lvl4pPr>
            <a:lvl5pPr marL="2052000" marR="0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198000" marR="0" lvl="0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</a:rPr>
              <a:t>Click to edit Master text styles</a:t>
            </a:r>
          </a:p>
          <a:p>
            <a:pPr marL="198000" marR="0" lvl="1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</a:rPr>
              <a:t>Second level</a:t>
            </a:r>
          </a:p>
          <a:p>
            <a:pPr marL="198000" marR="0" lvl="2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</a:rPr>
              <a:t>Third level</a:t>
            </a:r>
          </a:p>
          <a:p>
            <a:pPr marL="198000" marR="0" lvl="3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</a:rPr>
              <a:t>Fourth level</a:t>
            </a:r>
          </a:p>
          <a:p>
            <a:pPr marL="198000" marR="0" lvl="4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</a:rPr>
              <a:t>Fifth level</a:t>
            </a: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Plassholder for innhold 3"/>
          <p:cNvSpPr>
            <a:spLocks noGrp="1"/>
          </p:cNvSpPr>
          <p:nvPr>
            <p:ph sz="half" idx="2"/>
          </p:nvPr>
        </p:nvSpPr>
        <p:spPr>
          <a:xfrm>
            <a:off x="4770353" y="2348880"/>
            <a:ext cx="3794294" cy="3456384"/>
          </a:xfrm>
        </p:spPr>
        <p:txBody>
          <a:bodyPr/>
          <a:lstStyle>
            <a:lvl1pPr marL="198000" marR="0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/>
            </a:lvl1pPr>
            <a:lvl2pPr marL="666000" marR="0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 sz="2400"/>
            </a:lvl2pPr>
            <a:lvl3pPr marL="1134000" marR="0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lvl3pPr>
            <a:lvl4pPr marL="1600200" marR="0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 sz="1800"/>
            </a:lvl4pPr>
            <a:lvl5pPr marL="2052000" marR="0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198000" marR="0" lvl="0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</a:rPr>
              <a:t>Click to edit Master text styles</a:t>
            </a:r>
          </a:p>
          <a:p>
            <a:pPr marL="198000" marR="0" lvl="1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</a:rPr>
              <a:t>Second level</a:t>
            </a:r>
          </a:p>
          <a:p>
            <a:pPr marL="198000" marR="0" lvl="2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</a:rPr>
              <a:t>Third level</a:t>
            </a:r>
          </a:p>
          <a:p>
            <a:pPr marL="198000" marR="0" lvl="3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</a:rPr>
              <a:t>Fourth level</a:t>
            </a:r>
          </a:p>
          <a:p>
            <a:pPr marL="198000" marR="0" lvl="4" indent="-198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</a:rPr>
              <a:t>Fifth level</a:t>
            </a: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81828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Norges miljø- og biovitenskapelige universitet</a:t>
            </a:r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STAT340</a:t>
            </a:r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03D8D-F27D-49CA-A299-3589FD585F6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322050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Norges miljø- og biovitenskapelige universitet</a:t>
            </a:r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STAT340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03D8D-F27D-49CA-A299-3589FD585F6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07763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576000" y="932071"/>
            <a:ext cx="6818518" cy="61555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nb-NO" dirty="0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576000" y="1825831"/>
            <a:ext cx="7992000" cy="397943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5353200" y="6372140"/>
            <a:ext cx="2891208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>
                <a:solidFill>
                  <a:srgbClr val="009D7F"/>
                </a:solidFill>
              </a:defRPr>
            </a:lvl1pPr>
          </a:lstStyle>
          <a:p>
            <a:r>
              <a:rPr lang="en-US"/>
              <a:t>Norges miljø- og biovitenskapelige universitet</a:t>
            </a:r>
            <a:endParaRPr lang="nb-NO" dirty="0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576000" y="6372140"/>
            <a:ext cx="47580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>
                <a:solidFill>
                  <a:srgbClr val="009D7F"/>
                </a:solidFill>
              </a:defRPr>
            </a:lvl1pPr>
          </a:lstStyle>
          <a:p>
            <a:r>
              <a:rPr lang="nb-NO"/>
              <a:t>STAT340</a:t>
            </a:r>
            <a:endParaRPr lang="nb-NO" dirty="0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8269624" y="6372140"/>
            <a:ext cx="29837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>
                <a:solidFill>
                  <a:srgbClr val="009D7F"/>
                </a:solidFill>
              </a:defRPr>
            </a:lvl1pPr>
          </a:lstStyle>
          <a:p>
            <a:fld id="{76503D8D-F27D-49CA-A299-3589FD585F6D}" type="slidenum">
              <a:rPr lang="nb-NO" smtClean="0"/>
              <a:pPr/>
              <a:t>‹#›</a:t>
            </a:fld>
            <a:endParaRPr lang="nb-NO"/>
          </a:p>
        </p:txBody>
      </p:sp>
      <p:cxnSp>
        <p:nvCxnSpPr>
          <p:cNvPr id="13" name="Rett linje 12"/>
          <p:cNvCxnSpPr/>
          <p:nvPr/>
        </p:nvCxnSpPr>
        <p:spPr>
          <a:xfrm>
            <a:off x="576000" y="6282000"/>
            <a:ext cx="8002800" cy="0"/>
          </a:xfrm>
          <a:prstGeom prst="line">
            <a:avLst/>
          </a:prstGeom>
          <a:ln w="12700">
            <a:solidFill>
              <a:srgbClr val="009D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C:\Users\Morten\Downloads\NMBU_symbol_1000prosent_av_18mm_RGB.wmf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18" y="389642"/>
            <a:ext cx="676257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724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  <p:sldLayoutId id="2147483649" r:id="rId3"/>
    <p:sldLayoutId id="2147483660" r:id="rId4"/>
    <p:sldLayoutId id="2147483650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52" r:id="rId12"/>
    <p:sldLayoutId id="2147483653" r:id="rId13"/>
    <p:sldLayoutId id="2147483654" r:id="rId14"/>
    <p:sldLayoutId id="2147483655" r:id="rId15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rgbClr val="009D7F"/>
          </a:solidFill>
          <a:latin typeface="+mj-lt"/>
          <a:ea typeface="+mj-ea"/>
          <a:cs typeface="+mj-cs"/>
        </a:defRPr>
      </a:lvl1pPr>
    </p:titleStyle>
    <p:bodyStyle>
      <a:lvl1pPr marL="198000" indent="-1980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66000" indent="-1980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4000" indent="-1980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1980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2000" indent="-1980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aliaksandr.hubin@nmbu.no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.Egeland@nmbu.n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oree/BIAS.dat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learning.com/" TargetMode="External"/><Relationship Id="rId2" Type="http://schemas.openxmlformats.org/officeDocument/2006/relationships/hyperlink" Target="https://www.cs.upc.edu/~robert/teaching/estadistica/TheRBook.pdf" TargetMode="Externa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Norges miljø- og biovitenskapelige universitet</a:t>
            </a:r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STAT340</a:t>
            </a:r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03D8D-F27D-49CA-A299-3589FD585F6D}" type="slidenum">
              <a:rPr lang="nb-NO" smtClean="0"/>
              <a:pPr/>
              <a:t>1</a:t>
            </a:fld>
            <a:endParaRPr lang="nb-NO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STAT340 - </a:t>
            </a:r>
            <a:r>
              <a:rPr lang="nb-NO" dirty="0" err="1"/>
              <a:t>Introduction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dirty="0"/>
              <a:t>Aliaksandr Hubin, KBM, NMBU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b-NO" dirty="0"/>
              <a:t>03.02.2025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196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Teachers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000" y="1825831"/>
            <a:ext cx="8460496" cy="3979433"/>
          </a:xfrm>
        </p:spPr>
        <p:txBody>
          <a:bodyPr/>
          <a:lstStyle/>
          <a:p>
            <a:r>
              <a:rPr lang="nb-NO" dirty="0" err="1"/>
              <a:t>Lecturer</a:t>
            </a:r>
            <a:r>
              <a:rPr lang="nb-NO" dirty="0"/>
              <a:t>: Ass. Prof. Aliaksandr Hubin, KBM</a:t>
            </a:r>
          </a:p>
          <a:p>
            <a:r>
              <a:rPr lang="nb-NO" dirty="0"/>
              <a:t>Office: M252 - Old </a:t>
            </a:r>
            <a:r>
              <a:rPr lang="nb-NO" dirty="0" err="1"/>
              <a:t>diary</a:t>
            </a:r>
            <a:r>
              <a:rPr lang="nb-NO" dirty="0"/>
              <a:t> science </a:t>
            </a:r>
            <a:r>
              <a:rPr lang="nb-NO" dirty="0" err="1"/>
              <a:t>building</a:t>
            </a:r>
            <a:r>
              <a:rPr lang="nb-NO" dirty="0"/>
              <a:t>, (Meieribygningen)</a:t>
            </a:r>
          </a:p>
          <a:p>
            <a:r>
              <a:rPr lang="nb-NO" dirty="0"/>
              <a:t>Email: </a:t>
            </a:r>
            <a:r>
              <a:rPr lang="nb-NO" dirty="0">
                <a:hlinkClick r:id="rId2"/>
              </a:rPr>
              <a:t>aliaksandr.hubin@nmbu.no</a:t>
            </a:r>
            <a:endParaRPr lang="nb-NO" dirty="0"/>
          </a:p>
          <a:p>
            <a:endParaRPr lang="nb-NO" dirty="0"/>
          </a:p>
          <a:p>
            <a:r>
              <a:rPr lang="nb-NO" dirty="0"/>
              <a:t>Assistant </a:t>
            </a:r>
            <a:r>
              <a:rPr lang="nb-NO" dirty="0" err="1"/>
              <a:t>teacher</a:t>
            </a:r>
            <a:r>
              <a:rPr lang="nb-NO" dirty="0"/>
              <a:t>: Elias Bye </a:t>
            </a:r>
            <a:r>
              <a:rPr lang="nb-NO" dirty="0" err="1"/>
              <a:t>Rossetnes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Norges miljø- og biovitenskapelige universitet</a:t>
            </a:r>
            <a:endParaRPr lang="nb-N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STAT340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03D8D-F27D-49CA-A299-3589FD585F6D}" type="slidenum">
              <a:rPr lang="nb-NO" smtClean="0"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5040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Norges miljø- og biovitenskapelige universitet</a:t>
            </a:r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STAT340</a:t>
            </a:r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03D8D-F27D-49CA-A299-3589FD585F6D}" type="slidenum">
              <a:rPr lang="nb-NO" smtClean="0"/>
              <a:pPr/>
              <a:t>3</a:t>
            </a:fld>
            <a:endParaRPr lang="nb-NO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12294" y="638065"/>
            <a:ext cx="8568000" cy="984885"/>
          </a:xfrm>
        </p:spPr>
        <p:txBody>
          <a:bodyPr/>
          <a:lstStyle/>
          <a:p>
            <a:r>
              <a:rPr lang="nb-NO" sz="3200" dirty="0"/>
              <a:t>STAT340 – </a:t>
            </a:r>
            <a:br>
              <a:rPr lang="nb-NO" sz="3200" dirty="0"/>
            </a:br>
            <a:r>
              <a:rPr lang="nb-NO" sz="3200" b="1" dirty="0"/>
              <a:t>Applied</a:t>
            </a:r>
            <a:r>
              <a:rPr lang="nb-NO" sz="3200" dirty="0"/>
              <a:t> Methods in </a:t>
            </a:r>
            <a:r>
              <a:rPr lang="nb-NO" sz="3200" dirty="0" err="1"/>
              <a:t>Statistics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380574" y="1843802"/>
            <a:ext cx="8567999" cy="288032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b-NO" sz="1800" b="1" dirty="0" err="1"/>
              <a:t>Lectures</a:t>
            </a:r>
            <a:r>
              <a:rPr lang="nb-NO" sz="1800" b="1" dirty="0"/>
              <a:t> </a:t>
            </a:r>
            <a:r>
              <a:rPr lang="nb-NO" sz="1800" b="1" dirty="0" err="1"/>
              <a:t>Tuesdays</a:t>
            </a:r>
            <a:r>
              <a:rPr lang="nb-NO" sz="1800" b="1" dirty="0"/>
              <a:t> </a:t>
            </a:r>
            <a:r>
              <a:rPr lang="nb-NO" sz="1800" dirty="0"/>
              <a:t>14:15-16:00, </a:t>
            </a:r>
          </a:p>
          <a:p>
            <a:r>
              <a:rPr lang="nb-NO" sz="1800" dirty="0"/>
              <a:t>	Room: T330</a:t>
            </a:r>
          </a:p>
          <a:p>
            <a:r>
              <a:rPr lang="nb-NO" sz="1800" dirty="0"/>
              <a:t>	First </a:t>
            </a:r>
            <a:r>
              <a:rPr lang="nb-NO" sz="1800" dirty="0" err="1"/>
              <a:t>lecture</a:t>
            </a:r>
            <a:r>
              <a:rPr lang="nb-NO" sz="1800" dirty="0"/>
              <a:t> </a:t>
            </a:r>
            <a:r>
              <a:rPr lang="nb-NO" sz="1800" dirty="0" err="1"/>
              <a:t>Feb</a:t>
            </a:r>
            <a:r>
              <a:rPr lang="nb-NO" sz="1800" dirty="0"/>
              <a:t> 3 </a:t>
            </a:r>
            <a:br>
              <a:rPr lang="nb-NO" sz="1800" dirty="0"/>
            </a:br>
            <a:r>
              <a:rPr lang="nb-NO" sz="1800" dirty="0">
                <a:solidFill>
                  <a:schemeClr val="bg1"/>
                </a:solidFill>
                <a:hlinkClick r:id="rId3"/>
              </a:rPr>
              <a:t>.Egeland@nmbu.no</a:t>
            </a:r>
            <a:endParaRPr lang="nb-NO" sz="18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b-NO" sz="1800" b="1" dirty="0"/>
              <a:t>Group </a:t>
            </a:r>
            <a:r>
              <a:rPr lang="nb-NO" sz="1800" b="1" dirty="0" err="1"/>
              <a:t>exercises</a:t>
            </a:r>
            <a:r>
              <a:rPr lang="nb-NO" sz="1800" b="1" dirty="0"/>
              <a:t> </a:t>
            </a:r>
            <a:r>
              <a:rPr lang="nb-NO" sz="1800" b="1" dirty="0" err="1"/>
              <a:t>Thursdays</a:t>
            </a:r>
            <a:r>
              <a:rPr lang="nb-NO" sz="1800" b="1" dirty="0"/>
              <a:t>, </a:t>
            </a:r>
            <a:r>
              <a:rPr lang="nb-NO" sz="1800" dirty="0"/>
              <a:t>12:15-14:00 or 14:15-16:00, </a:t>
            </a:r>
          </a:p>
          <a:p>
            <a:r>
              <a:rPr lang="nb-NO" sz="1800" dirty="0"/>
              <a:t>	Room: BT3A10. </a:t>
            </a:r>
          </a:p>
          <a:p>
            <a:r>
              <a:rPr lang="nb-NO" sz="1800" dirty="0"/>
              <a:t>	First </a:t>
            </a:r>
            <a:r>
              <a:rPr lang="nb-NO" sz="1800" dirty="0" err="1"/>
              <a:t>ocurrence</a:t>
            </a:r>
            <a:r>
              <a:rPr lang="nb-NO" sz="1800" dirty="0"/>
              <a:t> </a:t>
            </a:r>
            <a:r>
              <a:rPr lang="nb-NO" sz="1800" dirty="0" err="1"/>
              <a:t>Feb</a:t>
            </a:r>
            <a:r>
              <a:rPr lang="nb-NO" sz="1800" dirty="0"/>
              <a:t> 5</a:t>
            </a:r>
            <a:endParaRPr lang="nb-NO" sz="1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b-NO" sz="1800" b="1" dirty="0" err="1"/>
              <a:t>Individual</a:t>
            </a:r>
            <a:r>
              <a:rPr lang="nb-NO" sz="1800" b="1" dirty="0"/>
              <a:t> </a:t>
            </a:r>
            <a:r>
              <a:rPr lang="nb-NO" sz="1800" b="1" dirty="0" err="1"/>
              <a:t>exercises</a:t>
            </a:r>
            <a:r>
              <a:rPr lang="nb-NO" sz="1800" b="1" dirty="0"/>
              <a:t> </a:t>
            </a:r>
            <a:r>
              <a:rPr lang="nb-NO" sz="1800" b="1" dirty="0" err="1"/>
              <a:t>Mondays</a:t>
            </a:r>
            <a:r>
              <a:rPr lang="nb-NO" sz="1800" b="1" dirty="0"/>
              <a:t> </a:t>
            </a:r>
            <a:r>
              <a:rPr lang="nb-NO" sz="1800" dirty="0"/>
              <a:t>10:15-12:00, </a:t>
            </a:r>
          </a:p>
          <a:p>
            <a:r>
              <a:rPr lang="nb-NO" sz="1800" dirty="0"/>
              <a:t>	Room: T132. </a:t>
            </a:r>
          </a:p>
          <a:p>
            <a:r>
              <a:rPr lang="nb-NO" sz="1800" dirty="0"/>
              <a:t>	First </a:t>
            </a:r>
            <a:r>
              <a:rPr lang="nb-NO" sz="1800" dirty="0" err="1"/>
              <a:t>ocurrence</a:t>
            </a:r>
            <a:r>
              <a:rPr lang="nb-NO" sz="1800" dirty="0"/>
              <a:t>: </a:t>
            </a:r>
            <a:r>
              <a:rPr lang="nb-NO" sz="1800" dirty="0" err="1"/>
              <a:t>Feb</a:t>
            </a:r>
            <a:r>
              <a:rPr lang="nb-NO" sz="1800" dirty="0"/>
              <a:t> 9</a:t>
            </a:r>
          </a:p>
          <a:p>
            <a:endParaRPr lang="nb-NO" sz="1800" baseline="30000" dirty="0"/>
          </a:p>
          <a:p>
            <a:endParaRPr lang="nb-NO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292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Practical</a:t>
            </a:r>
            <a:r>
              <a:rPr lang="nb-NO" dirty="0"/>
              <a:t> info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/>
              <a:t>Mandatory activity: </a:t>
            </a:r>
            <a:r>
              <a:rPr lang="en-US" sz="1800" dirty="0"/>
              <a:t>There will be </a:t>
            </a:r>
            <a:r>
              <a:rPr lang="en-US" sz="1800" b="1" dirty="0"/>
              <a:t>one</a:t>
            </a:r>
            <a:r>
              <a:rPr lang="en-US" sz="1800" dirty="0"/>
              <a:t> compulsory assignment. Deadline near the end of the course.</a:t>
            </a:r>
          </a:p>
          <a:p>
            <a:r>
              <a:rPr lang="en-US" sz="1800" b="1" dirty="0"/>
              <a:t>Exam: </a:t>
            </a:r>
            <a:r>
              <a:rPr lang="en-US" sz="1800" dirty="0"/>
              <a:t>Multiple choice (100%)</a:t>
            </a:r>
          </a:p>
          <a:p>
            <a:endParaRPr lang="en-US" sz="1800" dirty="0"/>
          </a:p>
          <a:p>
            <a:r>
              <a:rPr lang="en-US" sz="1800" b="1" dirty="0"/>
              <a:t>Learning activities: </a:t>
            </a:r>
          </a:p>
          <a:p>
            <a:pPr lvl="1"/>
            <a:r>
              <a:rPr lang="en-US" sz="1800" dirty="0"/>
              <a:t>Lectures: 2 hours per week. </a:t>
            </a:r>
          </a:p>
          <a:p>
            <a:pPr lvl="1"/>
            <a:r>
              <a:rPr lang="en-US" sz="1800" dirty="0"/>
              <a:t>Exercises: 2 hours per week. </a:t>
            </a:r>
          </a:p>
          <a:p>
            <a:pPr lvl="1"/>
            <a:r>
              <a:rPr lang="en-US" sz="1800" dirty="0"/>
              <a:t>Individual work: 2 hours per week.</a:t>
            </a:r>
          </a:p>
          <a:p>
            <a:pPr marL="468000" lvl="1" indent="0">
              <a:buNone/>
            </a:pPr>
            <a:endParaRPr lang="en-US" sz="1800" dirty="0"/>
          </a:p>
          <a:p>
            <a:r>
              <a:rPr lang="en-US" sz="1800" b="1" dirty="0"/>
              <a:t>Examination details: </a:t>
            </a:r>
            <a:r>
              <a:rPr lang="en-US" sz="1800" dirty="0"/>
              <a:t>One written exam: </a:t>
            </a:r>
            <a:r>
              <a:rPr lang="en-US" sz="1800" b="1" dirty="0"/>
              <a:t>A - E</a:t>
            </a:r>
            <a:r>
              <a:rPr lang="en-US" sz="1800" dirty="0"/>
              <a:t> , </a:t>
            </a:r>
            <a:r>
              <a:rPr lang="en-US" sz="1800" b="1" dirty="0"/>
              <a:t>Not-passed</a:t>
            </a:r>
            <a:r>
              <a:rPr lang="en-US" sz="1800" dirty="0"/>
              <a:t>. All calculators and specified written aids are allowed. </a:t>
            </a:r>
            <a:r>
              <a:rPr lang="en-US" sz="1800" dirty="0">
                <a:solidFill>
                  <a:srgbClr val="FF0000"/>
                </a:solidFill>
              </a:rPr>
              <a:t>May 18, 9:00 – 12:00.</a:t>
            </a:r>
          </a:p>
          <a:p>
            <a:r>
              <a:rPr lang="en-US" sz="1800" dirty="0">
                <a:solidFill>
                  <a:srgbClr val="FF0000"/>
                </a:solidFill>
              </a:rPr>
              <a:t>I am not involved into registration and organization of the exam</a:t>
            </a:r>
          </a:p>
          <a:p>
            <a:r>
              <a:rPr lang="en-US" sz="1800" dirty="0">
                <a:solidFill>
                  <a:srgbClr val="FF0000"/>
                </a:solidFill>
              </a:rPr>
              <a:t>No date change possible</a:t>
            </a:r>
          </a:p>
          <a:p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Norges miljø- og biovitenskapelige universitet</a:t>
            </a:r>
            <a:endParaRPr lang="nb-N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STAT340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03D8D-F27D-49CA-A299-3589FD585F6D}" type="slidenum">
              <a:rPr lang="nb-NO" smtClean="0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6337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542599" y="548680"/>
            <a:ext cx="6818518" cy="492443"/>
          </a:xfrm>
        </p:spPr>
        <p:txBody>
          <a:bodyPr/>
          <a:lstStyle/>
          <a:p>
            <a:r>
              <a:rPr lang="nb-NO" sz="3200" dirty="0" err="1"/>
              <a:t>Assumed</a:t>
            </a:r>
            <a:r>
              <a:rPr lang="nb-NO" sz="3200" dirty="0"/>
              <a:t> </a:t>
            </a:r>
            <a:r>
              <a:rPr lang="nb-NO" sz="3200" dirty="0" err="1"/>
              <a:t>background</a:t>
            </a:r>
            <a:r>
              <a:rPr lang="nb-NO" sz="3200" dirty="0"/>
              <a:t> («STAT100»)</a:t>
            </a:r>
            <a:endParaRPr lang="en-US" sz="3200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542599" y="1066897"/>
            <a:ext cx="7992000" cy="4810375"/>
          </a:xfrm>
        </p:spPr>
        <p:txBody>
          <a:bodyPr/>
          <a:lstStyle/>
          <a:p>
            <a:r>
              <a:rPr lang="nb-NO" sz="2000" dirty="0"/>
              <a:t>It is </a:t>
            </a:r>
            <a:r>
              <a:rPr lang="nb-NO" sz="2000" dirty="0" err="1"/>
              <a:t>assumed</a:t>
            </a:r>
            <a:r>
              <a:rPr lang="nb-NO" sz="2000" dirty="0"/>
              <a:t> </a:t>
            </a:r>
            <a:r>
              <a:rPr lang="nb-NO" sz="2000" dirty="0" err="1"/>
              <a:t>that</a:t>
            </a:r>
            <a:r>
              <a:rPr lang="nb-NO" sz="2000" dirty="0"/>
              <a:t> the student is </a:t>
            </a:r>
            <a:r>
              <a:rPr lang="nb-NO" sz="2000" dirty="0" err="1"/>
              <a:t>familiar</a:t>
            </a:r>
            <a:r>
              <a:rPr lang="nb-NO" sz="2000" dirty="0"/>
              <a:t> </a:t>
            </a:r>
            <a:r>
              <a:rPr lang="nb-NO" sz="2000" dirty="0" err="1"/>
              <a:t>with</a:t>
            </a:r>
            <a:r>
              <a:rPr lang="nb-NO" sz="2000" dirty="0"/>
              <a:t>:</a:t>
            </a:r>
          </a:p>
          <a:p>
            <a:pPr lvl="1"/>
            <a:r>
              <a:rPr lang="en-US" sz="1800" dirty="0"/>
              <a:t>Basic rules of probability, </a:t>
            </a:r>
          </a:p>
          <a:p>
            <a:pPr lvl="1"/>
            <a:r>
              <a:rPr lang="en-US" sz="1800" dirty="0"/>
              <a:t>Common probability distributions: </a:t>
            </a:r>
          </a:p>
          <a:p>
            <a:pPr lvl="2"/>
            <a:r>
              <a:rPr lang="en-US" sz="1800" dirty="0"/>
              <a:t>Binomial, Gaussian, Student’s</a:t>
            </a:r>
          </a:p>
          <a:p>
            <a:pPr lvl="1"/>
            <a:r>
              <a:rPr lang="en-US" sz="1800" dirty="0"/>
              <a:t>One-sample, two-sample and paired sample t-tests</a:t>
            </a:r>
          </a:p>
          <a:p>
            <a:pPr lvl="1"/>
            <a:r>
              <a:rPr lang="en-US" sz="1800" dirty="0"/>
              <a:t>One-way Analysis of Variance</a:t>
            </a:r>
          </a:p>
          <a:p>
            <a:pPr lvl="1"/>
            <a:r>
              <a:rPr lang="en-US" sz="1800" dirty="0"/>
              <a:t>Simple linear regression (one predictor variable)</a:t>
            </a:r>
          </a:p>
          <a:p>
            <a:pPr lvl="1"/>
            <a:r>
              <a:rPr lang="en-US" sz="1800" dirty="0"/>
              <a:t>Contingency tables</a:t>
            </a:r>
          </a:p>
          <a:p>
            <a:endParaRPr lang="en-US" sz="1800" dirty="0"/>
          </a:p>
          <a:p>
            <a:r>
              <a:rPr lang="en-US" sz="1800" dirty="0"/>
              <a:t>Software. </a:t>
            </a:r>
            <a:r>
              <a:rPr lang="en-US" sz="1800" dirty="0" err="1"/>
              <a:t>Rstudio</a:t>
            </a:r>
            <a:r>
              <a:rPr lang="en-US" sz="1800" dirty="0"/>
              <a:t> for R programming language:</a:t>
            </a:r>
          </a:p>
          <a:p>
            <a:pPr lvl="1"/>
            <a:r>
              <a:rPr lang="en-US" sz="1800" dirty="0"/>
              <a:t>Practical analysis in R using various statistical methods followed by theoretical and practical interpretation of the results (you may use other software if methods are available)</a:t>
            </a:r>
          </a:p>
          <a:p>
            <a:pPr marL="468000" lvl="1" indent="0">
              <a:buNone/>
            </a:pPr>
            <a:endParaRPr lang="en-US" sz="1800" dirty="0"/>
          </a:p>
          <a:p>
            <a:r>
              <a:rPr lang="en-US" sz="1800" dirty="0"/>
              <a:t>Data: R library </a:t>
            </a:r>
            <a:r>
              <a:rPr lang="en-US" sz="1800" dirty="0" err="1">
                <a:hlinkClick r:id="rId3"/>
              </a:rPr>
              <a:t>BIAS.data</a:t>
            </a:r>
            <a:r>
              <a:rPr lang="en-US" sz="1800" dirty="0">
                <a:hlinkClick r:id="rId3"/>
              </a:rPr>
              <a:t> </a:t>
            </a:r>
            <a:r>
              <a:rPr lang="en-US" sz="1800" dirty="0"/>
              <a:t>(first Thursday exercise)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Norges miljø- og biovitenskapelige universitet</a:t>
            </a:r>
            <a:endParaRPr lang="nb-NO" dirty="0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STAT340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03D8D-F27D-49CA-A299-3589FD585F6D}" type="slidenum">
              <a:rPr lang="nb-NO" smtClean="0"/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19345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000" y="292465"/>
            <a:ext cx="6818518" cy="615553"/>
          </a:xfrm>
        </p:spPr>
        <p:txBody>
          <a:bodyPr/>
          <a:lstStyle/>
          <a:p>
            <a:r>
              <a:rPr lang="nb-NO" dirty="0"/>
              <a:t>Content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776" y="944724"/>
            <a:ext cx="8004224" cy="4968552"/>
          </a:xfrm>
        </p:spPr>
        <p:txBody>
          <a:bodyPr/>
          <a:lstStyle/>
          <a:p>
            <a:r>
              <a:rPr lang="en-US" sz="2000" dirty="0"/>
              <a:t>Short introduction to R and R Studio. Practical analysis in R using various statistical methods followed by theoretical and practical interpretation of the results.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Multiple regression, ANOVA </a:t>
            </a:r>
            <a:br>
              <a:rPr lang="en-US" sz="2000" b="1" dirty="0"/>
            </a:br>
            <a:endParaRPr lang="en-US" sz="2000" b="1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Multivariate analysis </a:t>
            </a:r>
          </a:p>
          <a:p>
            <a:pPr lvl="1"/>
            <a:r>
              <a:rPr lang="en-US" sz="1800" dirty="0"/>
              <a:t>PCA (Principal Component Analysis)</a:t>
            </a:r>
          </a:p>
          <a:p>
            <a:pPr marL="468000" lvl="1" indent="0">
              <a:buNone/>
            </a:pPr>
            <a:endParaRPr lang="en-US" sz="1800" b="1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Classification </a:t>
            </a:r>
          </a:p>
          <a:p>
            <a:pPr marL="457200" indent="-457200">
              <a:buFont typeface="+mj-lt"/>
              <a:buAutoNum type="arabicPeriod"/>
            </a:pPr>
            <a:endParaRPr lang="en-US" sz="2000" b="1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Clustering </a:t>
            </a:r>
            <a:br>
              <a:rPr lang="en-US" sz="1800" dirty="0">
                <a:solidFill>
                  <a:srgbClr val="FF0000"/>
                </a:solidFill>
              </a:rPr>
            </a:br>
            <a:endParaRPr lang="en-US" sz="18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Generalized linear models </a:t>
            </a:r>
          </a:p>
          <a:p>
            <a:pPr lvl="1"/>
            <a:r>
              <a:rPr lang="en-US" sz="2000" dirty="0"/>
              <a:t>Binomial, Bernoulli (</a:t>
            </a:r>
            <a:r>
              <a:rPr lang="en-US" sz="2000" dirty="0" err="1"/>
              <a:t>logisic</a:t>
            </a:r>
            <a:r>
              <a:rPr lang="en-US" sz="2000" dirty="0"/>
              <a:t>), Poisson regression</a:t>
            </a:r>
          </a:p>
          <a:p>
            <a:pPr lvl="1"/>
            <a:r>
              <a:rPr lang="en-US" sz="2000" dirty="0"/>
              <a:t>Mixed models: Random effects, repeated measurements</a:t>
            </a:r>
          </a:p>
          <a:p>
            <a:pPr lvl="1"/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Norges miljø- og biovitenskapelige universitet</a:t>
            </a:r>
            <a:endParaRPr lang="nb-N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STAT340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03D8D-F27D-49CA-A299-3589FD585F6D}" type="slidenum">
              <a:rPr lang="nb-NO" smtClean="0"/>
              <a:t>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60478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Norges miljø- og biovitenskapelige universitet</a:t>
            </a:r>
            <a:endParaRPr lang="nb-N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STAT340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03D8D-F27D-49CA-A299-3589FD585F6D}" type="slidenum">
              <a:rPr lang="nb-NO" smtClean="0"/>
              <a:t>7</a:t>
            </a:fld>
            <a:endParaRPr lang="nb-NO"/>
          </a:p>
        </p:txBody>
      </p:sp>
      <p:sp>
        <p:nvSpPr>
          <p:cNvPr id="7" name="TekstSylinder 6"/>
          <p:cNvSpPr txBox="1"/>
          <p:nvPr/>
        </p:nvSpPr>
        <p:spPr>
          <a:xfrm>
            <a:off x="467544" y="1268760"/>
            <a:ext cx="7308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3DB1FA-6DF3-E87D-B750-8B2BCAF7F845}"/>
              </a:ext>
            </a:extLst>
          </p:cNvPr>
          <p:cNvSpPr txBox="1"/>
          <p:nvPr/>
        </p:nvSpPr>
        <p:spPr>
          <a:xfrm>
            <a:off x="442595" y="1582340"/>
            <a:ext cx="867645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Lecture presentations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exercises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Text</a:t>
            </a:r>
            <a:r>
              <a:rPr lang="en-US" i="1" dirty="0"/>
              <a:t> </a:t>
            </a:r>
            <a:r>
              <a:rPr lang="en-US" dirty="0"/>
              <a:t>book available online, consult if and when needed:</a:t>
            </a:r>
            <a:br>
              <a:rPr lang="en-US" dirty="0"/>
            </a:b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0000"/>
                </a:solidFill>
              </a:rPr>
              <a:t>R Book</a:t>
            </a:r>
            <a:r>
              <a:rPr lang="en-US" dirty="0"/>
              <a:t>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Michael J Crawley, Wiley, Second edition</a:t>
            </a:r>
          </a:p>
          <a:p>
            <a:pPr lvl="1"/>
            <a:r>
              <a:rPr lang="nb-NO" dirty="0">
                <a:hlinkClick r:id="rId2"/>
              </a:rPr>
              <a:t>https://www.cs.upc.edu/~robert/teaching/estadistica/TheRBook.pdf</a:t>
            </a:r>
            <a:br>
              <a:rPr lang="nb-NO" dirty="0"/>
            </a:br>
            <a:r>
              <a:rPr lang="nb-NO" dirty="0">
                <a:solidFill>
                  <a:srgbClr val="0070C0"/>
                </a:solidFill>
              </a:rPr>
              <a:t>Chapters 1-9 (as </a:t>
            </a:r>
            <a:r>
              <a:rPr lang="nb-NO" dirty="0" err="1">
                <a:solidFill>
                  <a:srgbClr val="0070C0"/>
                </a:solidFill>
              </a:rPr>
              <a:t>needed</a:t>
            </a:r>
            <a:r>
              <a:rPr lang="nb-NO" dirty="0">
                <a:solidFill>
                  <a:srgbClr val="0070C0"/>
                </a:solidFill>
              </a:rPr>
              <a:t>), 10-13, 17, 19, 25</a:t>
            </a:r>
            <a:br>
              <a:rPr lang="nb-NO" dirty="0">
                <a:solidFill>
                  <a:srgbClr val="0070C0"/>
                </a:solidFill>
              </a:rPr>
            </a:br>
            <a:endParaRPr lang="nb-NO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/>
              <a:t>Supplementary</a:t>
            </a:r>
            <a:r>
              <a:rPr lang="nb-NO" dirty="0"/>
              <a:t>.</a:t>
            </a:r>
            <a:r>
              <a:rPr lang="nb-NO" dirty="0">
                <a:solidFill>
                  <a:srgbClr val="0070C0"/>
                </a:solidFill>
              </a:rPr>
              <a:t> </a:t>
            </a:r>
            <a:r>
              <a:rPr lang="en-US" dirty="0"/>
              <a:t>Contains more mathematical details</a:t>
            </a:r>
            <a:br>
              <a:rPr lang="nb-NO" dirty="0">
                <a:solidFill>
                  <a:srgbClr val="0070C0"/>
                </a:solidFill>
              </a:rPr>
            </a:br>
            <a:endParaRPr lang="nb-NO" dirty="0">
              <a:solidFill>
                <a:srgbClr val="0070C0"/>
              </a:solidFill>
            </a:endParaRP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US" altLang="nb-NO" dirty="0">
                <a:solidFill>
                  <a:srgbClr val="FF0000"/>
                </a:solidFill>
              </a:rPr>
              <a:t>ISL</a:t>
            </a:r>
            <a:r>
              <a:rPr lang="en-US" altLang="nb-NO" dirty="0"/>
              <a:t>: James et al. “An Introduction to Statistical Learning”.</a:t>
            </a:r>
          </a:p>
          <a:p>
            <a:pPr lvl="1"/>
            <a:r>
              <a:rPr lang="en-US" dirty="0">
                <a:hlinkClick r:id="rId3"/>
              </a:rPr>
              <a:t>https://www.statlearning.com/</a:t>
            </a:r>
            <a:endParaRPr lang="en-US" altLang="nb-NO" dirty="0"/>
          </a:p>
          <a:p>
            <a:pPr lvl="1"/>
            <a:r>
              <a:rPr lang="nb-NO" dirty="0">
                <a:solidFill>
                  <a:srgbClr val="0070C0"/>
                </a:solidFill>
              </a:rPr>
              <a:t>Chapters 1-4, 6.1, 7.1, 10</a:t>
            </a:r>
            <a:endParaRPr lang="en-US" altLang="nb-NO" dirty="0"/>
          </a:p>
        </p:txBody>
      </p:sp>
    </p:spTree>
    <p:extLst>
      <p:ext uri="{BB962C8B-B14F-4D97-AF65-F5344CB8AC3E}">
        <p14:creationId xmlns:p14="http://schemas.microsoft.com/office/powerpoint/2010/main" val="4012728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Norges miljø- og biovitenskapelige universitet</a:t>
            </a:r>
            <a:endParaRPr lang="nb-N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STAT340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03D8D-F27D-49CA-A299-3589FD585F6D}" type="slidenum">
              <a:rPr lang="nb-NO" smtClean="0"/>
              <a:t>8</a:t>
            </a:fld>
            <a:endParaRPr lang="nb-NO"/>
          </a:p>
        </p:txBody>
      </p:sp>
      <p:sp>
        <p:nvSpPr>
          <p:cNvPr id="18" name="TextBox 17"/>
          <p:cNvSpPr txBox="1"/>
          <p:nvPr/>
        </p:nvSpPr>
        <p:spPr>
          <a:xfrm>
            <a:off x="2955000" y="439468"/>
            <a:ext cx="25312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200" dirty="0" err="1">
                <a:solidFill>
                  <a:schemeClr val="accent1"/>
                </a:solidFill>
              </a:rPr>
              <a:t>Typical</a:t>
            </a:r>
            <a:r>
              <a:rPr lang="nb-NO" sz="3200" dirty="0">
                <a:solidFill>
                  <a:schemeClr val="accent1"/>
                </a:solidFill>
              </a:rPr>
              <a:t> </a:t>
            </a:r>
            <a:r>
              <a:rPr lang="nb-NO" sz="3200" dirty="0" err="1">
                <a:solidFill>
                  <a:schemeClr val="accent1"/>
                </a:solidFill>
              </a:rPr>
              <a:t>week</a:t>
            </a:r>
            <a:endParaRPr lang="en-GB" sz="3200" dirty="0">
              <a:solidFill>
                <a:schemeClr val="accent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1633BA3-F505-3949-A4AE-FB76852ED1E6}"/>
              </a:ext>
            </a:extLst>
          </p:cNvPr>
          <p:cNvGrpSpPr/>
          <p:nvPr/>
        </p:nvGrpSpPr>
        <p:grpSpPr>
          <a:xfrm>
            <a:off x="3995936" y="3861048"/>
            <a:ext cx="1800200" cy="1030582"/>
            <a:chOff x="5161096" y="4458282"/>
            <a:chExt cx="1800200" cy="103058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3C89028-E48D-423C-A5DC-C52BB4B898CB}"/>
                </a:ext>
              </a:extLst>
            </p:cNvPr>
            <p:cNvSpPr txBox="1"/>
            <p:nvPr/>
          </p:nvSpPr>
          <p:spPr>
            <a:xfrm>
              <a:off x="5161096" y="4531527"/>
              <a:ext cx="18002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nb-NO" dirty="0"/>
            </a:p>
            <a:p>
              <a:r>
                <a:rPr lang="nb-NO" dirty="0" err="1">
                  <a:solidFill>
                    <a:srgbClr val="FF0000"/>
                  </a:solidFill>
                </a:rPr>
                <a:t>Choose</a:t>
              </a:r>
              <a:endParaRPr lang="nb-NO" dirty="0">
                <a:solidFill>
                  <a:srgbClr val="FF0000"/>
                </a:solidFill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1868043-F413-4E20-BA9B-6566A3D5D6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1102" y="4458282"/>
              <a:ext cx="860194" cy="5032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B932C48-E6C1-433C-B5A4-D6964F4CF5A2}"/>
                </a:ext>
              </a:extLst>
            </p:cNvPr>
            <p:cNvCxnSpPr/>
            <p:nvPr/>
          </p:nvCxnSpPr>
          <p:spPr>
            <a:xfrm>
              <a:off x="6085375" y="4984808"/>
              <a:ext cx="875921" cy="5040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FDABF8A2-6C65-F500-3C0A-398FA998E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21" y="1556792"/>
            <a:ext cx="9104081" cy="4342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32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536644-CE9C-4B40-A46E-9775F4528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Norges miljø- og biovitenskapelige universitet</a:t>
            </a:r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2699F3-92BB-1A89-7A0A-17471CBDA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STAT340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C46E9-EC35-FD85-C347-3F9C6ECCC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03D8D-F27D-49CA-A299-3589FD585F6D}" type="slidenum">
              <a:rPr lang="nb-NO" smtClean="0"/>
              <a:t>9</a:t>
            </a:fld>
            <a:endParaRPr lang="nb-NO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D78D61-16AE-FC0D-A7F2-C695F3627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8" y="116632"/>
            <a:ext cx="90855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157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D963F-4DCB-F3C7-1768-85D0AB0EC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Reflection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77F21-EA6C-D25F-96CF-318EBECD8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Turn to </a:t>
            </a:r>
            <a:r>
              <a:rPr lang="nb-NO" dirty="0" err="1"/>
              <a:t>your</a:t>
            </a:r>
            <a:r>
              <a:rPr lang="nb-NO" dirty="0"/>
              <a:t> </a:t>
            </a:r>
            <a:r>
              <a:rPr lang="nb-NO" dirty="0" err="1"/>
              <a:t>neighbour</a:t>
            </a:r>
            <a:r>
              <a:rPr lang="nb-NO" dirty="0"/>
              <a:t>(s) and </a:t>
            </a:r>
            <a:r>
              <a:rPr lang="nb-NO" dirty="0" err="1"/>
              <a:t>discuss</a:t>
            </a:r>
            <a:r>
              <a:rPr lang="nb-NO" dirty="0"/>
              <a:t> for a </a:t>
            </a:r>
            <a:r>
              <a:rPr lang="nb-NO" dirty="0" err="1"/>
              <a:t>few</a:t>
            </a:r>
            <a:r>
              <a:rPr lang="nb-NO" dirty="0"/>
              <a:t> </a:t>
            </a:r>
            <a:r>
              <a:rPr lang="nb-NO" dirty="0" err="1"/>
              <a:t>minutes</a:t>
            </a:r>
            <a:r>
              <a:rPr lang="nb-NO" dirty="0"/>
              <a:t>:</a:t>
            </a:r>
          </a:p>
          <a:p>
            <a:pPr lvl="1"/>
            <a:r>
              <a:rPr lang="nb-NO" dirty="0"/>
              <a:t>Do </a:t>
            </a:r>
            <a:r>
              <a:rPr lang="nb-NO" dirty="0" err="1"/>
              <a:t>you</a:t>
            </a:r>
            <a:r>
              <a:rPr lang="nb-NO" dirty="0"/>
              <a:t> </a:t>
            </a:r>
            <a:r>
              <a:rPr lang="nb-NO" dirty="0" err="1"/>
              <a:t>know</a:t>
            </a:r>
            <a:r>
              <a:rPr lang="nb-NO" dirty="0"/>
              <a:t> </a:t>
            </a:r>
            <a:r>
              <a:rPr lang="nb-NO" dirty="0" err="1"/>
              <a:t>what</a:t>
            </a:r>
            <a:r>
              <a:rPr lang="nb-NO" dirty="0"/>
              <a:t> </a:t>
            </a:r>
            <a:r>
              <a:rPr lang="nb-NO" dirty="0" err="1"/>
              <a:t>kind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random variables </a:t>
            </a:r>
            <a:r>
              <a:rPr lang="nb-NO" dirty="0" err="1"/>
              <a:t>you</a:t>
            </a:r>
            <a:r>
              <a:rPr lang="nb-NO" dirty="0"/>
              <a:t> </a:t>
            </a:r>
            <a:r>
              <a:rPr lang="nb-NO" dirty="0" err="1"/>
              <a:t>will</a:t>
            </a:r>
            <a:r>
              <a:rPr lang="nb-NO" dirty="0"/>
              <a:t> be/</a:t>
            </a:r>
            <a:r>
              <a:rPr lang="nb-NO" dirty="0" err="1"/>
              <a:t>are</a:t>
            </a:r>
            <a:r>
              <a:rPr lang="nb-NO" dirty="0"/>
              <a:t> </a:t>
            </a:r>
            <a:r>
              <a:rPr lang="nb-NO" dirty="0" err="1"/>
              <a:t>dealing</a:t>
            </a:r>
            <a:r>
              <a:rPr lang="nb-NO" dirty="0"/>
              <a:t> </a:t>
            </a:r>
            <a:r>
              <a:rPr lang="nb-NO" dirty="0" err="1"/>
              <a:t>with</a:t>
            </a:r>
            <a:r>
              <a:rPr lang="nb-NO" dirty="0"/>
              <a:t> in </a:t>
            </a:r>
            <a:r>
              <a:rPr lang="nb-NO" dirty="0" err="1"/>
              <a:t>your</a:t>
            </a:r>
            <a:r>
              <a:rPr lang="nb-NO" dirty="0"/>
              <a:t> </a:t>
            </a:r>
            <a:r>
              <a:rPr lang="nb-NO" dirty="0" err="1"/>
              <a:t>work</a:t>
            </a:r>
            <a:r>
              <a:rPr lang="nb-NO" dirty="0"/>
              <a:t>?</a:t>
            </a:r>
          </a:p>
          <a:p>
            <a:pPr lvl="1"/>
            <a:r>
              <a:rPr lang="nb-NO" dirty="0"/>
              <a:t>Do </a:t>
            </a:r>
            <a:r>
              <a:rPr lang="nb-NO" dirty="0" err="1"/>
              <a:t>you</a:t>
            </a:r>
            <a:r>
              <a:rPr lang="nb-NO" dirty="0"/>
              <a:t> have </a:t>
            </a:r>
            <a:r>
              <a:rPr lang="nb-NO" dirty="0" err="1"/>
              <a:t>any</a:t>
            </a:r>
            <a:r>
              <a:rPr lang="nb-NO" dirty="0"/>
              <a:t> </a:t>
            </a:r>
            <a:r>
              <a:rPr lang="nb-NO" dirty="0" err="1"/>
              <a:t>idea</a:t>
            </a:r>
            <a:r>
              <a:rPr lang="nb-NO" dirty="0"/>
              <a:t> </a:t>
            </a:r>
            <a:r>
              <a:rPr lang="nb-NO" dirty="0" err="1"/>
              <a:t>what</a:t>
            </a:r>
            <a:r>
              <a:rPr lang="nb-NO" dirty="0"/>
              <a:t> </a:t>
            </a:r>
            <a:r>
              <a:rPr lang="nb-NO" dirty="0" err="1"/>
              <a:t>kind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association</a:t>
            </a:r>
            <a:r>
              <a:rPr lang="nb-NO" dirty="0"/>
              <a:t> studies or </a:t>
            </a:r>
            <a:r>
              <a:rPr lang="nb-NO" dirty="0" err="1"/>
              <a:t>methods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are</a:t>
            </a:r>
            <a:r>
              <a:rPr lang="nb-NO" dirty="0"/>
              <a:t> relevant?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34484-58B5-75E8-DE44-B3633620F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Norges miljø- og biovitenskapelige universitet</a:t>
            </a:r>
            <a:endParaRPr lang="nb-NO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F387A-3DCB-25E8-8FF5-0157F8B7A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STAT340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3BCC3-E36A-476B-C667-10E309DD4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03D8D-F27D-49CA-A299-3589FD585F6D}" type="slidenum">
              <a:rPr lang="nb-NO" smtClean="0"/>
              <a:t>10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80138596"/>
      </p:ext>
    </p:extLst>
  </p:cSld>
  <p:clrMapOvr>
    <a:masterClrMapping/>
  </p:clrMapOvr>
</p:sld>
</file>

<file path=ppt/theme/theme1.xml><?xml version="1.0" encoding="utf-8"?>
<a:theme xmlns:a="http://schemas.openxmlformats.org/drawingml/2006/main" name="NMBU_PPT_Norsk">
  <a:themeElements>
    <a:clrScheme name="NMBU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9D7F"/>
      </a:accent1>
      <a:accent2>
        <a:srgbClr val="FEC843"/>
      </a:accent2>
      <a:accent3>
        <a:srgbClr val="556680"/>
      </a:accent3>
      <a:accent4>
        <a:srgbClr val="00A1CD"/>
      </a:accent4>
      <a:accent5>
        <a:srgbClr val="000000"/>
      </a:accent5>
      <a:accent6>
        <a:srgbClr val="C8ACB7"/>
      </a:accent6>
      <a:hlink>
        <a:srgbClr val="009D7F"/>
      </a:hlink>
      <a:folHlink>
        <a:srgbClr val="77645A"/>
      </a:folHlink>
    </a:clrScheme>
    <a:fontScheme name="Office klassisk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NMBU_PPT_Norsk</Template>
  <TotalTime>12098</TotalTime>
  <Words>595</Words>
  <Application>Microsoft Macintosh PowerPoint</Application>
  <PresentationFormat>On-screen Show (4:3)</PresentationFormat>
  <Paragraphs>108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NMBU_PPT_Norsk</vt:lpstr>
      <vt:lpstr>STAT340 - Introduction</vt:lpstr>
      <vt:lpstr>Teachers</vt:lpstr>
      <vt:lpstr>STAT340 –  Applied Methods in Statistics</vt:lpstr>
      <vt:lpstr>Practical info</vt:lpstr>
      <vt:lpstr>Assumed background («STAT100»)</vt:lpstr>
      <vt:lpstr>Content</vt:lpstr>
      <vt:lpstr>PowerPoint Presentation</vt:lpstr>
      <vt:lpstr>PowerPoint Presentation</vt:lpstr>
      <vt:lpstr>PowerPoint Presentation</vt:lpstr>
      <vt:lpstr>Reflection</vt:lpstr>
    </vt:vector>
  </TitlesOfParts>
  <Company>UMB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Solve Sæbø</dc:creator>
  <dc:description>template by addpoint.no</dc:description>
  <cp:lastModifiedBy>Aliaksandr Hubin</cp:lastModifiedBy>
  <cp:revision>46</cp:revision>
  <dcterms:created xsi:type="dcterms:W3CDTF">2014-01-17T09:30:02Z</dcterms:created>
  <dcterms:modified xsi:type="dcterms:W3CDTF">2026-01-26T09:59:30Z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 by">
    <vt:lpwstr>addpoint.no</vt:lpwstr>
  </property>
  <property fmtid="{D5CDD505-2E9C-101B-9397-08002B2CF9AE}" pid="3" name="MSIP_Label_d0484126-3486-41a9-802e-7f1e2277276c_Enabled">
    <vt:lpwstr>True</vt:lpwstr>
  </property>
  <property fmtid="{D5CDD505-2E9C-101B-9397-08002B2CF9AE}" pid="4" name="MSIP_Label_d0484126-3486-41a9-802e-7f1e2277276c_SiteId">
    <vt:lpwstr>eec01f8e-737f-43e3-9ed5-f8a59913bd82</vt:lpwstr>
  </property>
  <property fmtid="{D5CDD505-2E9C-101B-9397-08002B2CF9AE}" pid="5" name="MSIP_Label_d0484126-3486-41a9-802e-7f1e2277276c_Owner">
    <vt:lpwstr>solve.sabo@nmbu.no</vt:lpwstr>
  </property>
  <property fmtid="{D5CDD505-2E9C-101B-9397-08002B2CF9AE}" pid="6" name="MSIP_Label_d0484126-3486-41a9-802e-7f1e2277276c_SetDate">
    <vt:lpwstr>2019-05-02T08:18:34.1002847Z</vt:lpwstr>
  </property>
  <property fmtid="{D5CDD505-2E9C-101B-9397-08002B2CF9AE}" pid="7" name="MSIP_Label_d0484126-3486-41a9-802e-7f1e2277276c_Name">
    <vt:lpwstr>Internal</vt:lpwstr>
  </property>
  <property fmtid="{D5CDD505-2E9C-101B-9397-08002B2CF9AE}" pid="8" name="MSIP_Label_d0484126-3486-41a9-802e-7f1e2277276c_Application">
    <vt:lpwstr>Microsoft Azure Information Protection</vt:lpwstr>
  </property>
  <property fmtid="{D5CDD505-2E9C-101B-9397-08002B2CF9AE}" pid="9" name="MSIP_Label_d0484126-3486-41a9-802e-7f1e2277276c_Extended_MSFT_Method">
    <vt:lpwstr>Manual</vt:lpwstr>
  </property>
  <property fmtid="{D5CDD505-2E9C-101B-9397-08002B2CF9AE}" pid="10" name="Sensitivity">
    <vt:lpwstr>Internal</vt:lpwstr>
  </property>
</Properties>
</file>